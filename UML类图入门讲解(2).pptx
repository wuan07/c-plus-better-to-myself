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71" r:id="rId5"/>
    <p:sldId id="272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3" r:id="rId14"/>
    <p:sldId id="27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大家好，今天我将用10分钟的时间，带大家快速入门UML类图。UML类图是软件设计中非常核心的一种工具，掌握它能极大地提升我们的设计能力和团队沟通效率。希望通过这次分享，能帮助大家迈出第一步。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一下什么是UML类图。UML，也就是统一建模语言，是一种标准的图形化语言。而类图，就是其中最基础、最常用的一种。你可以把它想象成软件系统的建筑蓝图，它清晰地展示了系统里有哪些类，这些类有什么属性和方法，以及它们之间是如何关联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为什么要学习类图呢？首先，它能极大地提升我们的设计能力，让我们在写代码前就想清楚整个系统的结构。其次，它是团队沟通的利器，能让大家对系统有统一的认识。此外，它还能辅助代码实现，提高开发效率，并且在系统维护时起到关键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类图的核心组成元素。首先是“类”，它是系统的基本单元。在UML中，一个类用一个三部分的矩形表示，分别是名称层、属性层和方法层。属性和方法前面的+、-、#符号代表了它们的可见性，也就是我们常说的public、private和protected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除了类，接口也是一个重要元素。接口定义了行为的契约，但不提供具体实现。它有两种表示方法：一种是简洁的圆圈表示法，也叫棒棒糖表示法；另一种是更详细的类框表示法，可以列出接口的所有方法。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类与类之间的关系是类图的灵魂。首先来看两种最基础的关系：关联和依赖。关联关系是一种长期的结构链接，用实线表示。而依赖关系是一种临时的使用关系，用带箭头的虚线表示，比如一个方法的参数是另一个类的对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接下来是泛化和实现关系。泛化关系就是我们熟悉的继承，用带空心三角箭头的实线表示，箭头指向父类。而实现关系表示一个类实现了某个接口，用带空心三角箭头的虚线表示，箭头指向接口。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两种特殊的关联关系：聚合和组合。它们都表示“整体-部分”的关系。聚合是弱拥有，用空心菱形表示，比如汽车和车轮，车轮可以独立存在。组合是强包含，用实心菱形表示，比如公司和部门，部门的生命周期依赖于公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元素后，我们来看看如何实际绘制一张类图。这个过程可以分为五个步骤：首先确定范围，然后从需求中识别出核心的类，接着为这些类定义属性和方法，再建立它们之间的关系，最后进行细化和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完了，我们来看一个经典的例子——图书馆管理系统。我们简化一下需求：读者可以借书还书，系统要记录借阅信息。通过分析，我们识别出三个核心类：图书、读者和借阅记录。这张图就展示了它们之间的关系，比如一个读者可以借阅多本书，一本书也可以被多个读者借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怎么用，我们再来简单回顾一下UML的历史。UML并不是凭空出现的，它是在90年代初，由多种建模方法融合统一而来的。特别是Booch、Rumbaugh和Jacobson这三位大师，他们被称为“三剑客”，共同推动了UML的诞生和标准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这就是UML的三位核心贡献者，被称为“三剑客”。左边是Grady Booch，中间是Jim Rumbaugh，右边是Ivar Jacobson。他们各自带来了自己的建模方法，最终融合成了我们今天使用的UML。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在实际开发中，类图的应用非常广泛。比如在电商系统中，我们可以用类图来设计购物车、商品和用户之间的关系。在金融系统中，类图可以帮助我们确保交易、账户等核心实体的设计准确无误。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今天的内容。我们了解了UML类图的定义，它的核心组成元素，包括类、接口和四种主要关系。我们还学习了绘制类图的基本步骤，并看到了它在实际项目中的价值。希望大家能把今天学到的知识应用到未来的学习和工作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我的讲解到此结束，感谢大家的聆听。现在是问答环节，大家有什么问题可以随时提出。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14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10" Type="http://schemas.openxmlformats.org/officeDocument/2006/relationships/image" Target="../media/image23.jpeg"/><Relationship Id="rId4" Type="http://schemas.openxmlformats.org/officeDocument/2006/relationships/image" Target="../media/image18.svg"/><Relationship Id="rId9" Type="http://schemas.openxmlformats.org/officeDocument/2006/relationships/hyperlink" Target="https://mind.pictureknow.com/diagraming/?templateId=0a139189433b407e9ca3189b72a9b036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jpeg"/><Relationship Id="rId5" Type="http://schemas.openxmlformats.org/officeDocument/2006/relationships/image" Target="../media/image3.sv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27.svg"/><Relationship Id="rId9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jpeg"/><Relationship Id="rId5" Type="http://schemas.openxmlformats.org/officeDocument/2006/relationships/image" Target="../media/image32.svg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21.svg"/><Relationship Id="rId4" Type="http://schemas.openxmlformats.org/officeDocument/2006/relationships/image" Target="../media/image3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6035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UML类图入门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10分钟掌握软件设计的核心语言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5524500"/>
            <a:ext cx="279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cap="flat" cmpd="sng">
            <a:solidFill>
              <a:srgbClr val="0CAC47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0" y="6096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讲解人：孙耀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98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什么是UML类图</a:t>
            </a:r>
            <a:r>
              <a:rPr lang="en-US" sz="28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778000" y="17780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UML（统一建模语言）是软件工程领域的标准化图形化建模语言，而类图是其最基础、最常用的结构图。它如同软件系统的“建筑蓝图”，清晰描绘了系统的静态结构，揭示了系统组成元素及其内在联系。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3175000"/>
            <a:ext cx="4699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2000" y="3365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603500" y="336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核心主体：类 (Class)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32000" y="38735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系统中的核心“实体”单元，例如电商系统中的用户、商品、订单等，是构建系统功能的基础载体。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731000" y="3175000"/>
            <a:ext cx="4699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0" y="3365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556500" y="3365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静态特征：属性 (Attribute)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38735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类所具备的静态数据特征，描述了对象的状态信息，如用户的姓名、年龄，或商品的价格、库存数量。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8000" y="4953000"/>
            <a:ext cx="4699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2000" y="5143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603500" y="514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动态行为：方法 (Method)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56515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类能够执行的操作或功能，定义了对象的行为能力，如用户登录验证、商品信息更新、订单结算等。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731000" y="4953000"/>
            <a:ext cx="4699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0" y="5143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556500" y="5143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交互关系：关联 (Relationship)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0" y="56515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类与类之间的逻辑连接与依赖，如“用户拥有多个订单”“订单包含多种商品”的业务关联结构。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DEF9ED-CD7A-0D68-27B4-BD83E3144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32" y="66901"/>
            <a:ext cx="6724196" cy="24362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11268C-0015-D747-F81A-25F2E035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32" y="3220663"/>
            <a:ext cx="8140319" cy="22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30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9BE4BE-4A32-8BFA-B2D5-7CB4B4693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154"/>
            <a:ext cx="12192000" cy="629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5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学习类图的目的与重要性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17" b="117"/>
          <a:stretch>
            <a:fillRect/>
          </a:stretch>
        </p:blipFill>
        <p:spPr>
          <a:xfrm>
            <a:off x="762000" y="1905000"/>
            <a:ext cx="4318000" cy="2692400"/>
          </a:xfrm>
          <a:prstGeom prst="roundRect">
            <a:avLst>
              <a:gd name="adj" fmla="val 566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889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类图不仅是设计工具，更是团队协作的通用语言。通过可视化的方式，将抽象的系统结构具体化，让开发过程更高效、更清晰，是现代软件工程中不可或缺的一环。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1905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1500" y="209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032500" y="20701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提升设计能力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51500" y="25654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在编码前理清思路，构建结构合理、具备高扩展性的软件架构，从源头规避设计缺陷，减少后期重构成本。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699500" y="1905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0" y="209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271000" y="20701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增强团队沟通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0" y="25654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作为通用的“工程语言”，快速统一团队对系统结构的认知，消除理解偏差，大幅降低沟通成本与协作摩擦。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4064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500" y="425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032500" y="42291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辅助代码实现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51500" y="47244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支持正向工程自动生成代码框架，也能逆向生成类图，打通设计与开发的壁垒，显著提升编码效率。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699500" y="4064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90000" y="425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271000" y="4229100"/>
            <a:ext cx="247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便于系统维护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890000" y="47244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作为系统的可视化文档，帮助维护人员快速理解复杂的内部结构与依赖关系，降低维护与功能迭代的难度。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核心知识：类图的组成元素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类（Class）：系统的基本单元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类是面向对象系统的核心构建模块，通过“三层矩形”结构将实体的静态属性与动态行为封装在一起，是理解软件结构的基础。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49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429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名称层（顶层）：身份标识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采用驼峰命名法（如 User），抽象类需用斜体标注，是类的核心身份象征，明确实体归属。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50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44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属性层（中层）：状态数据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定义对象的静态特征。可见性符号：+公有 / -私有 / #保护，用于管控数据访问权限。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524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5461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方法层（底层）：行为能力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描述对象的动态行为与逻辑处理。格式为 [可见性] 方法名(参数): 返回类型，封装交互逻辑。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2032000"/>
            <a:ext cx="5080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ap="flat" cmpd="sng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2159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User （类名层）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9845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3111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- name: String // 私有属性 (Private)</a:t>
            </a:r>
            <a:br>
              <a:rPr lang="en-US" sz="1400" b="0" i="0" u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+ age: int = 18 // 公有属性 (Public)，默认值18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4191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4318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+ setName(newName: String): void // 公有方法</a:t>
            </a:r>
            <a:br>
              <a:rPr lang="en-US" sz="1400" b="0" i="0" u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Consolas"/>
                <a:ea typeface="Consolas"/>
                <a:cs typeface="Consolas"/>
                <a:sym typeface="Consolas"/>
              </a:rPr>
              <a:t>- getAge(): int // 私有方法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5461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477000" y="55626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</a:t>
            </a: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可见性符号是封装性的直观体现，严格区分公有接口与私有实现，是设计高内聚低耦合系统的基础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核心知识：接口（Interface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圆圈表示法（棒棒糖表示法</a:t>
            </a: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一种简洁直观的表示方式，常用于高层架构图中展示“实现关系”。通过圆形符号代表接口，实线连接表示类对接口的实现，强调结构关系而非细节。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4318000"/>
            <a:ext cx="762000" cy="762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524000" y="4572000"/>
            <a:ext cx="76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IFace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49107">
            <a:off x="2413045" y="4692650"/>
            <a:ext cx="88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3429000" y="4318000"/>
            <a:ext cx="1651000" cy="762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429000" y="4445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ConcreteClass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实现具体逻辑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010150" cy="394335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类框表示法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66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用于详细设计文档，清晰展示接口的完整契约。通过带 «interface» 标记的类框定义，明确列出所有公开方法签名，是编写代码和技术文档的标准形式。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4254500"/>
            <a:ext cx="18415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540500" y="43434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«interface»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Runnable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+ run(): void</a:t>
            </a:r>
          </a:p>
        </p:txBody>
      </p:sp>
      <p:cxnSp>
        <p:nvCxnSpPr>
          <p:cNvPr id="18" name="Connector 18"/>
          <p:cNvCxnSpPr/>
          <p:nvPr/>
        </p:nvCxnSpPr>
        <p:spPr>
          <a:xfrm rot="-85925">
            <a:off x="8509079" y="4781550"/>
            <a:ext cx="50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6B728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9" name="AutoShape 19"/>
          <p:cNvSpPr/>
          <p:nvPr/>
        </p:nvSpPr>
        <p:spPr>
          <a:xfrm>
            <a:off x="9144000" y="4254500"/>
            <a:ext cx="18415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9CA3A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144000" y="4343400"/>
            <a:ext cx="1841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Task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+ run(): void { ... }</a:t>
            </a: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+ </a:t>
            </a:r>
            <a:r>
              <a:rPr lang="en-US" sz="11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init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(): void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102F090-26DB-A182-0550-B438576AE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487" y="5521838"/>
            <a:ext cx="7313613" cy="12118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143000" y="6350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核心知识：四种核心关系（一）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1397000" y="2006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关联关系 (Association)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94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5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图标特征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一条实线连接两个类，代表长期、稳定的结构性链接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>
              <a:defRPr/>
            </a:pPr>
            <a:r>
              <a:rPr lang="zh-CN" altLang="zh-CN" sz="1500" b="1" dirty="0">
                <a:solidFill>
                  <a:srgbClr val="374151"/>
                </a:solidFill>
                <a:latin typeface="Noto Sans SC"/>
                <a:ea typeface="Noto Sans SC"/>
              </a:rPr>
              <a:t>本质</a:t>
            </a:r>
            <a:r>
              <a:rPr lang="zh-CN" altLang="zh-CN" sz="1600" dirty="0"/>
              <a:t>：</a:t>
            </a:r>
            <a:r>
              <a:rPr lang="zh-CN" altLang="zh-CN" sz="1500" dirty="0">
                <a:solidFill>
                  <a:srgbClr val="374151"/>
                </a:solidFill>
                <a:latin typeface="Noto Sans SC"/>
                <a:ea typeface="Noto Sans SC"/>
              </a:rPr>
              <a:t>知道对方、长期引用。两个对象之间存在稳定的业务联系，互相感知对方的存在，属于has-a（拥有）的基础形式。</a:t>
            </a:r>
            <a:r>
              <a:rPr lang="en-US" sz="1500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 </a:t>
            </a:r>
          </a:p>
          <a:p>
            <a:pPr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多重性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线端标注数字（如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1, *, 0..1），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描述对象数量的对应关系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2500" y="4794250"/>
            <a:ext cx="1397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学生 (Student)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27450" y="4838700"/>
            <a:ext cx="1397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课程</a:t>
            </a:r>
            <a:r>
              <a:rPr lang="en-US" sz="13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(Course)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34376">
            <a:off x="2412969" y="507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/>
          <p:nvPr/>
        </p:nvSpPr>
        <p:spPr>
          <a:xfrm>
            <a:off x="2540000" y="47625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3302000" y="4762500"/>
            <a:ext cx="381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270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0" y="20066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依赖关系 (Dependency)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76982" y="2794000"/>
            <a:ext cx="4699018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15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图表特征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带开放箭头的虚线，从“使用者”指向“被使用者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”。</a:t>
            </a:r>
            <a:endParaRPr lang="en-US" sz="1100" dirty="0"/>
          </a:p>
          <a:p>
            <a:r>
              <a:rPr lang="zh-CN" altLang="zh-CN" sz="1500" b="1" dirty="0">
                <a:solidFill>
                  <a:srgbClr val="374151"/>
                </a:solidFill>
                <a:latin typeface="Noto Sans SC"/>
                <a:ea typeface="Noto Sans SC"/>
              </a:rPr>
              <a:t>本质：</a:t>
            </a:r>
            <a:r>
              <a:rPr lang="zh-CN" altLang="zh-CN" dirty="0">
                <a:solidFill>
                  <a:srgbClr val="4B5563"/>
                </a:solidFill>
                <a:latin typeface="Noto Sans SC"/>
                <a:ea typeface="Noto Sans SC"/>
              </a:rPr>
              <a:t>临时使用。一个类在某个短暂过程里需要另一个类的服务，用完之后没有长期保存对方的引用。最弱的关系。</a:t>
            </a:r>
            <a:endParaRPr lang="en-US" dirty="0">
              <a:solidFill>
                <a:srgbClr val="4B5563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76982" y="4914900"/>
            <a:ext cx="1397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100" dirty="0"/>
              <a:t>化学反应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9144047" y="4914900"/>
            <a:ext cx="1397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100" dirty="0"/>
              <a:t>催化剂</a:t>
            </a:r>
            <a:endParaRPr lang="en-US" sz="1100" dirty="0"/>
          </a:p>
        </p:txBody>
      </p:sp>
      <p:cxnSp>
        <p:nvCxnSpPr>
          <p:cNvPr id="23" name="Connector 23"/>
          <p:cNvCxnSpPr/>
          <p:nvPr/>
        </p:nvCxnSpPr>
        <p:spPr>
          <a:xfrm rot="-34376">
            <a:off x="7874015" y="51498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59E0B">
                <a:alpha val="100000"/>
              </a:srgbClr>
            </a:solidFill>
            <a:prstDash val="dash"/>
            <a:round/>
            <a:headEnd type="none" w="lg" len="lg"/>
            <a:tailEnd type="arrow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5270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核心知识：四种核心关系（二）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泛化关系</a:t>
            </a:r>
            <a:r>
              <a:rPr lang="zh-CN" alt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（继承关系）</a:t>
            </a: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(Generalization)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94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794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图示特征</a:t>
            </a:r>
            <a:r>
              <a:rPr lang="en-US" sz="15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带空心三角箭头的实线，箭头由子类指向父类，直观体现层级归属关系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619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本质含义：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即“继承”，描述“is-a”的逻辑关系。子类复用父类属性和方法，是代码复用的核心手段。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572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206500" y="4762500"/>
            <a:ext cx="1651000" cy="381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Account (账户)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4762500"/>
            <a:ext cx="1651000" cy="381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SavingsAccount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10742709">
            <a:off x="2889196" y="4965697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triangle" w="med" len="med"/>
          </a:ln>
        </p:spPr>
      </p:cxnSp>
      <p:sp>
        <p:nvSpPr>
          <p:cNvPr id="16" name="AutoShape 16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实现关系</a:t>
            </a: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(Realization)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79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2794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图示特征：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带空心三角箭头的虚线，箭头由实现类指向接口，强调行为规范的兑现。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619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3619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本质含义：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类实现了接口定义的契约，必须重写接口中的所有抽象方法，是对行为标准的具体落地。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4572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667500" y="4762500"/>
            <a:ext cx="1651000" cy="3810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PaymentService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4762500"/>
            <a:ext cx="1651000" cy="381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CreditCardPay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10742709">
            <a:off x="8382000" y="496570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dash"/>
            <a:round/>
            <a:headEnd type="none" w="lg" len="lg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核心知识：两种特殊的关联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聚合</a:t>
            </a: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(Aggregation)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9046">
            <a:off x="952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667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使用带</a:t>
            </a:r>
            <a:r>
              <a:rPr lang="en-US" sz="14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空心菱形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的实线连接，菱形指向整体。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这是一种“弱拥有”关系，部分对象可以独立于整体对象存在，体现了“has-a”的语义。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20749" y="4063998"/>
            <a:ext cx="107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汽车</a:t>
            </a:r>
            <a:r>
              <a:rPr lang="en-US" sz="13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整体</a:t>
            </a:r>
            <a:r>
              <a:rPr lang="en-US" sz="13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2000249" y="4152900"/>
            <a:ext cx="304800" cy="304800"/>
          </a:xfrm>
          <a:prstGeom prst="diamond">
            <a:avLst/>
          </a:prstGeom>
          <a:solidFill>
            <a:srgbClr val="FFFFFF">
              <a:alpha val="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1" name="Connector 11"/>
          <p:cNvCxnSpPr/>
          <p:nvPr/>
        </p:nvCxnSpPr>
        <p:spPr>
          <a:xfrm rot="-85925">
            <a:off x="2301875" y="4286254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2" name="AutoShape 12"/>
          <p:cNvSpPr/>
          <p:nvPr/>
        </p:nvSpPr>
        <p:spPr>
          <a:xfrm>
            <a:off x="2805071" y="4108450"/>
            <a:ext cx="107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车轮</a:t>
            </a:r>
            <a:r>
              <a:rPr lang="en-US" sz="13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部分</a:t>
            </a:r>
            <a:r>
              <a:rPr lang="en-US" sz="13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952482" y="4813300"/>
            <a:ext cx="4826018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示例解读：汽车报废后，车轮可拆下装到其他车上，两者生命周期独立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13500" y="1968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组合</a:t>
            </a: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(Composition)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-9046">
            <a:off x="6413508" y="247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13500" y="2667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特征：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使用带</a:t>
            </a:r>
            <a:r>
              <a:rPr lang="en-US" sz="14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实心菱形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的实线连接，菱形指向整体。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这是一种“强包含”关系，部分对象的生命周期完全由整体对象管理，体现了“contains-a”的语义。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4318000"/>
            <a:ext cx="107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公司(整体)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93000" y="4324350"/>
            <a:ext cx="304800" cy="304800"/>
          </a:xfrm>
          <a:prstGeom prst="diamond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20" name="Connector 20"/>
          <p:cNvCxnSpPr/>
          <p:nvPr/>
        </p:nvCxnSpPr>
        <p:spPr>
          <a:xfrm rot="-85925">
            <a:off x="7797879" y="447674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1" name="AutoShape 21"/>
          <p:cNvSpPr/>
          <p:nvPr/>
        </p:nvSpPr>
        <p:spPr>
          <a:xfrm>
            <a:off x="8305959" y="4324350"/>
            <a:ext cx="107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部门</a:t>
            </a:r>
            <a:r>
              <a:rPr lang="en-US" sz="13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部分</a:t>
            </a:r>
            <a:r>
              <a:rPr lang="en-US" sz="1300" b="0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413500" y="4889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示例解读：如果公司解散，其下属的所有部门也必须随之撤销，无法独立存活。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89000" y="6070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判断关键在于“部分是否能脱离整体独立存在”。能独立则为聚合，不能独立则为组合。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571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实践操作：如何绘制类图</a:t>
            </a:r>
            <a:r>
              <a:rPr lang="en-US" sz="28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6096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05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7526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确定范围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明确绘制边界，界定是覆盖整个系统、单一业务模块还是核心功能点，避免因范围过宽导致类图臃肿。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6096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857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27051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识别核心类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从需求描述中提取关键名词（如用户、订单、商品）作为候选类，剔除无关的临时变量与辅助性描述。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6096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810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36576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定义属性与行为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为类添加核心属性（如ID、名称）和业务方法，忽略基础的getter/setter，聚焦于业务逻辑的实现。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08500"/>
            <a:ext cx="6096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762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6101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构建类间关系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梳理关联、依赖、继承等关系，明确多重性（如1对多、多对多），还原真实的业务交互逻辑。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6096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715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55626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 优化与规范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引入接口、抽象类及构造型（如&lt;&lt;Service&gt;&gt;），简化冗余结构，提升类图的可读性与规范性。</a:t>
            </a:r>
            <a:endParaRPr lang="en-US" sz="1100"/>
          </a:p>
        </p:txBody>
      </p:sp>
      <p:pic>
        <p:nvPicPr>
          <p:cNvPr id="20" name="Picture 20">
            <a:hlinkClick r:id="rId9"/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366000" y="1778000"/>
            <a:ext cx="3556000" cy="3556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2700000" algn="tl">
              <a:srgbClr val="000000">
                <a:alpha val="15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7366000" y="5397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类图不仅是代码的蓝图，更是团队沟通的通用语言，清晰的结构能大幅降低系统的维护成本。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33FE809-79BB-07E7-AF58-D746F4CA4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413" y="0"/>
            <a:ext cx="94431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86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0263F1E-96EE-B02F-A27E-76B43ECA9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009650"/>
            <a:ext cx="9601200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67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案例解析：图书馆管理系统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8288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业务需求简化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模拟真实借阅场景，支持读者借阅、归还图书操作。系统需完整记录借阅时间、归还状态及逾期信息，形成闭环管理，确保数据的准确性与可追溯性。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651000"/>
            <a:ext cx="5270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841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8288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核心类结构拆解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286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系统的三大核心实体：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Book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（图书属性载体）、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Reader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（用户身份主体）、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BorrowRecord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（借阅关联纽带），三者协同驱动业务流转。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619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系统架构与业务流程可视化示意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86" r="86"/>
          <a:stretch>
            <a:fillRect/>
          </a:stretch>
        </p:blipFill>
        <p:spPr>
          <a:xfrm>
            <a:off x="1727200" y="3263900"/>
            <a:ext cx="7956550" cy="3258397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背景故事：UML的发展历史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8000" y="1587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UML并非凭空产生，而是面向对象建模思想长期演进与融合的产物。它的诞生终结了建模方法的“战国时代”，为软件工程提供了统一的标准语言。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603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1990s初 · 方法林立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845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Booch、OMT、OOSE等多种建模方法并存，标准不一，行业沟通成本极高。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413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603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2603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1995年 · 初步统一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9845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Booch与Rumbaugh宣布合并各自方法，发布统一建模语言草案，迈出关键一步。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413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2603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72500" y="2603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1996年 · 三剑客聚首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2984500"/>
            <a:ext cx="304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Ivar Jacobson加入，整合OOSE方法，发布UML 0.8，“三剑客”正式形成。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810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33500" y="400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1997年 · 确立标准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4381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OMG组织正式采纳UML 1.1作为行业标准，标志着UML成为全球通用的建模语言。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3810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4000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31000" y="4000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2005年 · 体系升级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381500"/>
            <a:ext cx="488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UML 2.0正式发布，重构了架构体系，引入更丰富的结构与行为元素，适配复杂系统。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rcRect l="312" r="312"/>
          <a:stretch>
            <a:fillRect/>
          </a:stretch>
        </p:blipFill>
        <p:spPr>
          <a:xfrm>
            <a:off x="762000" y="5207000"/>
            <a:ext cx="2286000" cy="1270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27" name="AutoShape 27"/>
          <p:cNvSpPr/>
          <p:nvPr/>
        </p:nvSpPr>
        <p:spPr>
          <a:xfrm>
            <a:off x="3429000" y="5207000"/>
            <a:ext cx="800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ML的发展不仅是技术标准的统一，更是软件工程方法论的一次重要整合。从早期的百家争鸣到如今的标准化，它始终伴随着软件行业的发展，成为连接设计、开发与管理的通用语言，为现代软件系统的构建提供了坚实的理论基础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571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UML“三剑客”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3824" b="3824"/>
          <a:stretch>
            <a:fillRect/>
          </a:stretch>
        </p:blipFill>
        <p:spPr>
          <a:xfrm>
            <a:off x="1625600" y="2159000"/>
            <a:ext cx="1651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44450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Grady Booch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4953000"/>
            <a:ext cx="3124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面向对象方法学先驱，Booch方法创始人。他强调软件设计的可视化与文档化，为UML奠定了坚实的理论与实践基础。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905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6900" y="2667000"/>
            <a:ext cx="812800" cy="812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21200" y="38100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Jim Rumbaugh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4521200" y="4445000"/>
            <a:ext cx="3124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OMT（对象建模技术）创始人。他将严谨的数据分析与面向对象分析相结合，为UML提供了结构化的逻辑表达体系。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1905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6410" b="6410"/>
          <a:stretch>
            <a:fillRect/>
          </a:stretch>
        </p:blipFill>
        <p:spPr>
          <a:xfrm>
            <a:off x="8877300" y="2159000"/>
            <a:ext cx="1651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153400" y="4445000"/>
            <a:ext cx="3124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Ivar Jacobson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53400" y="4953000"/>
            <a:ext cx="3124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OOSE方法创始人，提出了核心的“用例(Use Case)”概念。他的理论为UML提供了从用户视角描述系统功能的关键方法论。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778000" y="635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拓展视野：实际应用案例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1347" b="11347"/>
          <a:stretch>
            <a:fillRect/>
          </a:stretch>
        </p:blipFill>
        <p:spPr>
          <a:xfrm>
            <a:off x="762000" y="1905000"/>
            <a:ext cx="2032000" cy="2794000"/>
          </a:xfrm>
          <a:prstGeom prst="roundRect">
            <a:avLst>
              <a:gd name="adj" fmla="val 7500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984500" y="1905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电商购物车系统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84500" y="2540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通过类图清晰梳理核心类关系，定义`Cart`、`Product`与`PromotionRule`的交互逻辑。灵活设计优惠策略接口，实现满减、折扣等规则的动态替换，让系统具备极强的扩展性与维护性，从容应对业务需求变化。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2984500" y="4889500"/>
            <a:ext cx="29210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984500" y="4889500"/>
            <a:ext cx="292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核心价值：灵活适配业务规则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22727" r="22727"/>
          <a:stretch>
            <a:fillRect/>
          </a:stretch>
        </p:blipFill>
        <p:spPr>
          <a:xfrm>
            <a:off x="6223000" y="1905000"/>
            <a:ext cx="2286000" cy="2794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8699500" y="1905000"/>
            <a:ext cx="2730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金融交易系统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699500" y="2540000"/>
            <a:ext cx="2730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利用类图精准建模`Order`、`Trade`与`Account`等核心实体，明确资金流与信息流的流转逻辑。通过严谨的类结构设计，保障交易数据的一致性、准确性与安全性，为高并发、高可靠的金融级业务提供坚实的架构支撑。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699500" y="4889500"/>
            <a:ext cx="2730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699500" y="4889500"/>
            <a:ext cx="273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核心价值：数据安全与一致性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类图不仅是系统设计的可视化工具，更是构建稳健、可扩展软件架构的蓝图，助力复杂业务场景从概念到落地的精准转化。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635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总结与回顾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1778000"/>
            <a:ext cx="482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0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082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108200" y="2476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描述系统静态结构的蓝图，清晰展现类的属性、方法及各类间的交互关系，是理解面向对象系统的基础。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1778000"/>
            <a:ext cx="482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2032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422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关键元素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42200" y="2476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涵盖类（属性与方法）、接口两大构件，以及关联、依赖、泛化、实现四种决定系统结构的核心关系。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70000" y="3746500"/>
            <a:ext cx="482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000" y="4000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108200" y="4000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绘制步骤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108200" y="4445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遵循“识别业务类 → 定义属性与方法 → 梳理逻辑关系”的闭环，构建层次清晰的可视化类图结构。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3746500"/>
            <a:ext cx="482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4000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442200" y="4000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核心价值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42200" y="44450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提升系统设计与抽象能力，降低团队沟通成本，为开发、测试及后期系统维护提供清晰的参考依据。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270000" y="5651500"/>
            <a:ext cx="10160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270000" y="5651500"/>
            <a:ext cx="508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524000" y="56515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掌握UML类图是软件工程师的必备技能，它是连接需求与代码的桥梁，助力大家在未来的项目中设计出更健壮、可扩展的软件系统。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3495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3746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欢迎随时交流与探讨，共同进步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1456</Words>
  <Application>Microsoft Office PowerPoint</Application>
  <PresentationFormat>宽屏</PresentationFormat>
  <Paragraphs>185</Paragraphs>
  <Slides>19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耀 孙</cp:lastModifiedBy>
  <cp:revision>4</cp:revision>
  <dcterms:modified xsi:type="dcterms:W3CDTF">2026-09-07T14:43:52Z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{"Label":"1","ContentProducer":"001191110102MACQD9K64010000","ProduceID":"7680854044143602654","ReservedCode1":"","ContentPropagator":"","PropagateID":"","ReservedCode2":""}</vt:lpwstr>
  </property>
</Properties>
</file>